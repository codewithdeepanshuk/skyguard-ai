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" y="73152"/>
            <a:ext cx="12045391" cy="6711696"/>
          </a:xfrm>
          <a:prstGeom prst="rect">
            <a:avLst/>
          </a:prstGeom>
          <a:noFill/>
          <a:ln w="381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82880"/>
            <a:ext cx="2011680" cy="59436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Darkmode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09728"/>
            <a:ext cx="6858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2A5A"/>
                </a:solidFill>
              </a:defRPr>
            </a:pPr>
            <a:r>
              <a:t>TECHNICAL APPROACH</a:t>
            </a:r>
          </a:p>
          <a:p>
            <a:pPr algn="ctr">
              <a:defRPr sz="950" b="1">
                <a:solidFill>
                  <a:srgbClr val="64748B"/>
                </a:solidFill>
              </a:defRPr>
            </a:pPr>
            <a:r>
              <a:t>SIH Problem Statement 26073 • Automated Weather Station Sensor Anomaly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164592"/>
            <a:ext cx="2377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0F172A"/>
                </a:solidFill>
              </a:defRPr>
            </a:pPr>
            <a:r>
              <a:t>SMART INDIA HACKATHON 2024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960120"/>
            <a:ext cx="4937760" cy="56692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b="1" sz="850">
                <a:solidFill>
                  <a:srgbClr val="DC2626"/>
                </a:solidFill>
              </a:rPr>
              <a:t>❖ </a:t>
            </a:r>
            <a:r>
              <a:rPr b="1" sz="850">
                <a:solidFill>
                  <a:srgbClr val="DC2626"/>
                </a:solidFill>
              </a:rPr>
              <a:t>Next.js 14 &amp; React 18 </a:t>
            </a:r>
            <a:r>
              <a:rPr b="1" sz="850">
                <a:solidFill>
                  <a:srgbClr val="2563EB"/>
                </a:solidFill>
              </a:rPr>
              <a:t>(Operator UI): </a:t>
            </a:r>
            <a:r>
              <a:rPr b="0" sz="850">
                <a:solidFill>
                  <a:srgbClr val="334155"/>
                </a:solidFill>
              </a:rPr>
              <a:t>Fast web dashboard so operators can monitor alerts and sensor health without delay.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850">
                <a:solidFill>
                  <a:srgbClr val="DC2626"/>
                </a:solidFill>
              </a:rPr>
              <a:t>❖ </a:t>
            </a:r>
            <a:r>
              <a:rPr b="1" sz="850">
                <a:solidFill>
                  <a:srgbClr val="DC2626"/>
                </a:solidFill>
              </a:rPr>
              <a:t>MapLibre GL </a:t>
            </a:r>
            <a:r>
              <a:rPr b="1" sz="850">
                <a:solidFill>
                  <a:srgbClr val="2563EB"/>
                </a:solidFill>
              </a:rPr>
              <a:t>(Station Map): </a:t>
            </a:r>
            <a:r>
              <a:rPr b="0" sz="850">
                <a:solidFill>
                  <a:srgbClr val="334155"/>
                </a:solidFill>
              </a:rPr>
              <a:t>Displays stations across the region on an interactive map with green, red, amber status dots.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850">
                <a:solidFill>
                  <a:srgbClr val="DC2626"/>
                </a:solidFill>
              </a:rPr>
              <a:t>❖ </a:t>
            </a:r>
            <a:r>
              <a:rPr b="1" sz="850">
                <a:solidFill>
                  <a:srgbClr val="DC2626"/>
                </a:solidFill>
              </a:rPr>
              <a:t>Recharts </a:t>
            </a:r>
            <a:r>
              <a:rPr b="1" sz="850">
                <a:solidFill>
                  <a:srgbClr val="2563EB"/>
                </a:solidFill>
              </a:rPr>
              <a:t>(Live Weather Graphs): </a:t>
            </a:r>
            <a:r>
              <a:rPr b="0" sz="850">
                <a:solidFill>
                  <a:srgbClr val="334155"/>
                </a:solidFill>
              </a:rPr>
              <a:t>Smooth 24-hour diurnal curves for temperature, pressure, and humidity to spot sudden shifts.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850">
                <a:solidFill>
                  <a:srgbClr val="DC2626"/>
                </a:solidFill>
              </a:rPr>
              <a:t>❖ </a:t>
            </a:r>
            <a:r>
              <a:rPr b="1" sz="850">
                <a:solidFill>
                  <a:srgbClr val="DC2626"/>
                </a:solidFill>
              </a:rPr>
              <a:t>Python 3.12 &amp; FastAPI </a:t>
            </a:r>
            <a:r>
              <a:rPr b="1" sz="850">
                <a:solidFill>
                  <a:srgbClr val="2563EB"/>
                </a:solidFill>
              </a:rPr>
              <a:t>(Core Backend): </a:t>
            </a:r>
            <a:r>
              <a:rPr b="0" sz="850">
                <a:solidFill>
                  <a:srgbClr val="334155"/>
                </a:solidFill>
              </a:rPr>
              <a:t>High-speed server that streams telemetry and executes AI quality tests in under a second.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850">
                <a:solidFill>
                  <a:srgbClr val="DC2626"/>
                </a:solidFill>
              </a:rPr>
              <a:t>❖ </a:t>
            </a:r>
            <a:r>
              <a:rPr b="1" sz="850">
                <a:solidFill>
                  <a:srgbClr val="DC2626"/>
                </a:solidFill>
              </a:rPr>
              <a:t>PostgreSQL </a:t>
            </a:r>
            <a:r>
              <a:rPr b="1" sz="850">
                <a:solidFill>
                  <a:srgbClr val="2563EB"/>
                </a:solidFill>
              </a:rPr>
              <a:t>(Central Database): </a:t>
            </a:r>
            <a:r>
              <a:rPr b="0" sz="850">
                <a:solidFill>
                  <a:srgbClr val="334155"/>
                </a:solidFill>
              </a:rPr>
              <a:t>Scalable relational storage via psycopg for historical weather telemetry and audited alert logs.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850">
                <a:solidFill>
                  <a:srgbClr val="DC2626"/>
                </a:solidFill>
              </a:rPr>
              <a:t>❖ </a:t>
            </a:r>
            <a:r>
              <a:rPr b="1" sz="850">
                <a:solidFill>
                  <a:srgbClr val="DC2626"/>
                </a:solidFill>
              </a:rPr>
              <a:t>SQLite </a:t>
            </a:r>
            <a:r>
              <a:rPr b="1" sz="850">
                <a:solidFill>
                  <a:srgbClr val="2563EB"/>
                </a:solidFill>
              </a:rPr>
              <a:t>(Offline Cache): </a:t>
            </a:r>
            <a:r>
              <a:rPr b="0" sz="850">
                <a:solidFill>
                  <a:srgbClr val="334155"/>
                </a:solidFill>
              </a:rPr>
              <a:t>Local storage keeping demonstrations and remote edge field stations running without internet.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850">
                <a:solidFill>
                  <a:srgbClr val="DC2626"/>
                </a:solidFill>
              </a:rPr>
              <a:t>❖ </a:t>
            </a:r>
            <a:r>
              <a:rPr b="1" sz="850">
                <a:solidFill>
                  <a:srgbClr val="DC2626"/>
                </a:solidFill>
              </a:rPr>
              <a:t>LightGBM &amp; Scikit-learn </a:t>
            </a:r>
            <a:r>
              <a:rPr b="1" sz="850">
                <a:solidFill>
                  <a:srgbClr val="2563EB"/>
                </a:solidFill>
              </a:rPr>
              <a:t>(AI Models): </a:t>
            </a:r>
            <a:r>
              <a:rPr b="0" sz="850">
                <a:solidFill>
                  <a:srgbClr val="334155"/>
                </a:solidFill>
              </a:rPr>
              <a:t>Machine learning models (GBDT &amp; Isolation Forest) to spot complex multi-sensor anomalies.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850">
                <a:solidFill>
                  <a:srgbClr val="DC2626"/>
                </a:solidFill>
              </a:rPr>
              <a:t>❖ </a:t>
            </a:r>
            <a:r>
              <a:rPr b="1" sz="850">
                <a:solidFill>
                  <a:srgbClr val="DC2626"/>
                </a:solidFill>
              </a:rPr>
              <a:t>CUSUM Algorithm </a:t>
            </a:r>
            <a:r>
              <a:rPr b="1" sz="850">
                <a:solidFill>
                  <a:srgbClr val="2563EB"/>
                </a:solidFill>
              </a:rPr>
              <a:t>(Drift Detector): </a:t>
            </a:r>
            <a:r>
              <a:rPr b="0" sz="850">
                <a:solidFill>
                  <a:srgbClr val="334155"/>
                </a:solidFill>
              </a:rPr>
              <a:t>Cumulative sum tracking that catches aging sensors slowly drifting out of calibration over days.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850">
                <a:solidFill>
                  <a:srgbClr val="DC2626"/>
                </a:solidFill>
              </a:rPr>
              <a:t>❖ </a:t>
            </a:r>
            <a:r>
              <a:rPr b="1" sz="850">
                <a:solidFill>
                  <a:srgbClr val="DC2626"/>
                </a:solidFill>
              </a:rPr>
              <a:t>Physical Limits &amp; Step QC </a:t>
            </a:r>
            <a:r>
              <a:rPr b="1" sz="850">
                <a:solidFill>
                  <a:srgbClr val="2563EB"/>
                </a:solidFill>
              </a:rPr>
              <a:t>(Rule Checks): </a:t>
            </a:r>
            <a:r>
              <a:rPr b="0" sz="850">
                <a:solidFill>
                  <a:srgbClr val="334155"/>
                </a:solidFill>
              </a:rPr>
              <a:t>Immediate WMO rules rejecting impossible values (e.g. 75°C) and sudden 10°C spikes in 1 minute.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850">
                <a:solidFill>
                  <a:srgbClr val="DC2626"/>
                </a:solidFill>
              </a:rPr>
              <a:t>❖ </a:t>
            </a:r>
            <a:r>
              <a:rPr b="1" sz="850">
                <a:solidFill>
                  <a:srgbClr val="DC2626"/>
                </a:solidFill>
              </a:rPr>
              <a:t>Spatial Consensus </a:t>
            </a:r>
            <a:r>
              <a:rPr b="1" sz="850">
                <a:solidFill>
                  <a:srgbClr val="2563EB"/>
                </a:solidFill>
              </a:rPr>
              <a:t>(Peer Validation): </a:t>
            </a:r>
            <a:r>
              <a:rPr b="0" sz="850">
                <a:solidFill>
                  <a:srgbClr val="334155"/>
                </a:solidFill>
              </a:rPr>
              <a:t>Compares readings with neighboring stations (accounting for altitude &amp; distance) to verify trends.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850">
                <a:solidFill>
                  <a:srgbClr val="DC2626"/>
                </a:solidFill>
              </a:rPr>
              <a:t>❖ </a:t>
            </a:r>
            <a:r>
              <a:rPr b="1" sz="850">
                <a:solidFill>
                  <a:srgbClr val="DC2626"/>
                </a:solidFill>
              </a:rPr>
              <a:t>Decision &amp; Triage Logic </a:t>
            </a:r>
            <a:r>
              <a:rPr b="1" sz="850">
                <a:solidFill>
                  <a:srgbClr val="2563EB"/>
                </a:solidFill>
              </a:rPr>
              <a:t>(Classifier): </a:t>
            </a:r>
            <a:r>
              <a:rPr b="0" sz="850">
                <a:solidFill>
                  <a:srgbClr val="334155"/>
                </a:solidFill>
              </a:rPr>
              <a:t>Separates real extreme weather from broken sensor hardware, stopping false alarms before dispatch.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850">
                <a:solidFill>
                  <a:srgbClr val="DC2626"/>
                </a:solidFill>
              </a:rPr>
              <a:t>❖ </a:t>
            </a:r>
            <a:r>
              <a:rPr b="1" sz="850">
                <a:solidFill>
                  <a:srgbClr val="DC2626"/>
                </a:solidFill>
              </a:rPr>
              <a:t>Physics-Based Imputation </a:t>
            </a:r>
            <a:r>
              <a:rPr b="1" sz="850">
                <a:solidFill>
                  <a:srgbClr val="2563EB"/>
                </a:solidFill>
              </a:rPr>
              <a:t>(Gap Filling): </a:t>
            </a:r>
            <a:r>
              <a:rPr b="0" sz="850">
                <a:solidFill>
                  <a:srgbClr val="334155"/>
                </a:solidFill>
              </a:rPr>
              <a:t>Generates clean replacement estimates for faulty values so downstream forecasting models don't crash.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850">
                <a:solidFill>
                  <a:srgbClr val="DC2626"/>
                </a:solidFill>
              </a:rPr>
              <a:t>❖ </a:t>
            </a:r>
            <a:r>
              <a:rPr b="1" sz="850">
                <a:solidFill>
                  <a:srgbClr val="DC2626"/>
                </a:solidFill>
              </a:rPr>
              <a:t>Raw Data Integrity </a:t>
            </a:r>
            <a:r>
              <a:rPr b="1" sz="850">
                <a:solidFill>
                  <a:srgbClr val="2563EB"/>
                </a:solidFill>
              </a:rPr>
              <a:t>(Audit Trail): </a:t>
            </a:r>
            <a:r>
              <a:rPr b="0" sz="850">
                <a:solidFill>
                  <a:srgbClr val="334155"/>
                </a:solidFill>
              </a:rPr>
              <a:t>Original sensor measurements are never erased or overwritten; quality flags are attached transparently.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051560"/>
            <a:ext cx="2103120" cy="475488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AWS Telemetry Ingestion</a:t>
            </a:r>
          </a:p>
          <a:p>
            <a:pPr algn="ctr">
              <a:defRPr sz="780" b="0">
                <a:solidFill>
                  <a:srgbClr val="64748B"/>
                </a:solidFill>
              </a:defRPr>
            </a:pPr>
            <a:r>
              <a:t>Temp • Pressure • Humidity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1783080"/>
            <a:ext cx="1645920" cy="47548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SQLite Cache</a:t>
            </a:r>
          </a:p>
          <a:p>
            <a:pPr algn="ctr">
              <a:defRPr sz="780" b="0">
                <a:solidFill>
                  <a:srgbClr val="64748B"/>
                </a:solidFill>
              </a:defRPr>
            </a:pPr>
            <a:r>
              <a:t>Local Replay &amp; Offline Mode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2468880"/>
            <a:ext cx="2103120" cy="5943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FastAPI Backend</a:t>
            </a:r>
          </a:p>
          <a:p>
            <a:pPr algn="ctr">
              <a:defRPr sz="780" b="0">
                <a:solidFill>
                  <a:srgbClr val="64748B"/>
                </a:solidFill>
              </a:defRPr>
            </a:pPr>
            <a:r>
              <a:t>Python 3.12 Asynchronous 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3474720"/>
            <a:ext cx="1645920" cy="475488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Web Dashboard</a:t>
            </a:r>
          </a:p>
          <a:p>
            <a:pPr algn="ctr">
              <a:defRPr sz="780" b="0">
                <a:solidFill>
                  <a:srgbClr val="64748B"/>
                </a:solidFill>
              </a:defRPr>
            </a:pPr>
            <a:r>
              <a:t>Next.js 14 &amp; React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4480560"/>
            <a:ext cx="1463040" cy="475488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MapLibre GL</a:t>
            </a:r>
          </a:p>
          <a:p>
            <a:pPr algn="ctr">
              <a:defRPr sz="780" b="0">
                <a:solidFill>
                  <a:srgbClr val="64748B"/>
                </a:solidFill>
              </a:defRPr>
            </a:pPr>
            <a:r>
              <a:t>Station Geo Map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4480560"/>
            <a:ext cx="1463040" cy="475488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Recharts Visuals</a:t>
            </a:r>
          </a:p>
          <a:p>
            <a:pPr algn="ctr">
              <a:defRPr sz="780" b="0">
                <a:solidFill>
                  <a:srgbClr val="64748B"/>
                </a:solidFill>
              </a:defRPr>
            </a:pPr>
            <a:r>
              <a:t>Diurnal Multi-Trace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1051560"/>
            <a:ext cx="2834640" cy="438912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Physical Limits &amp; Step QC</a:t>
            </a:r>
          </a:p>
          <a:p>
            <a:pPr algn="ctr">
              <a:defRPr sz="780" b="0">
                <a:solidFill>
                  <a:srgbClr val="64748B"/>
                </a:solidFill>
              </a:defRPr>
            </a:pPr>
            <a:r>
              <a:t>WMO Range Bounds &amp; Sudden Jump Tests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1600200"/>
            <a:ext cx="2834640" cy="438912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CUSUM Drift Detector</a:t>
            </a:r>
          </a:p>
          <a:p>
            <a:pPr algn="ctr">
              <a:defRPr sz="780" b="0">
                <a:solidFill>
                  <a:srgbClr val="64748B"/>
                </a:solidFill>
              </a:defRPr>
            </a:pPr>
            <a:r>
              <a:t>Cumulative Sum Tracking for Drift Decay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2148840"/>
            <a:ext cx="2834640" cy="438912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LightGBM &amp; Scikit-learn</a:t>
            </a:r>
          </a:p>
          <a:p>
            <a:pPr algn="ctr">
              <a:defRPr sz="780" b="0">
                <a:solidFill>
                  <a:srgbClr val="64748B"/>
                </a:solidFill>
              </a:defRPr>
            </a:pPr>
            <a:r>
              <a:t>Multivariate ML Anomaly Scorer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2697480"/>
            <a:ext cx="2834640" cy="438912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Spatial Consensus Engine</a:t>
            </a:r>
          </a:p>
          <a:p>
            <a:pPr algn="ctr">
              <a:defRPr sz="780" b="0">
                <a:solidFill>
                  <a:srgbClr val="64748B"/>
                </a:solidFill>
              </a:defRPr>
            </a:pPr>
            <a:r>
              <a:t>Peer Station Validation with Elevation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3246120"/>
            <a:ext cx="2834640" cy="438912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Decision &amp; Triage Matrix</a:t>
            </a:r>
          </a:p>
          <a:p>
            <a:pPr algn="ctr">
              <a:defRPr sz="780" b="0">
                <a:solidFill>
                  <a:srgbClr val="64748B"/>
                </a:solidFill>
              </a:defRPr>
            </a:pPr>
            <a:r>
              <a:t>Weather vs Fault vs Needs Review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3794760"/>
            <a:ext cx="2834640" cy="438912"/>
          </a:xfrm>
          <a:prstGeom prst="roundRect">
            <a:avLst/>
          </a:prstGeom>
          <a:solidFill>
            <a:srgbClr val="ECFE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Data Imputation Engine</a:t>
            </a:r>
          </a:p>
          <a:p>
            <a:pPr algn="ctr">
              <a:defRPr sz="780" b="0">
                <a:solidFill>
                  <a:srgbClr val="64748B"/>
                </a:solidFill>
              </a:defRPr>
            </a:pPr>
            <a:r>
              <a:t>Physics-Informed Clean Interpolation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4343400"/>
            <a:ext cx="2834640" cy="438912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Operator Alert Service</a:t>
            </a:r>
          </a:p>
          <a:p>
            <a:pPr algn="ctr">
              <a:defRPr sz="780" b="0">
                <a:solidFill>
                  <a:srgbClr val="64748B"/>
                </a:solidFill>
              </a:defRPr>
            </a:pPr>
            <a:r>
              <a:t>Actionable Diagnoses &amp; Root-Cause Explanations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4892040"/>
            <a:ext cx="2834640" cy="438912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PostgreSQL Central Store</a:t>
            </a:r>
          </a:p>
          <a:p>
            <a:pPr algn="ctr">
              <a:defRPr sz="780" b="0">
                <a:solidFill>
                  <a:srgbClr val="64748B"/>
                </a:solidFill>
              </a:defRPr>
            </a:pPr>
            <a:r>
              <a:t>High-Volume Historical Database via psycopg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680" y="5440680"/>
            <a:ext cx="2834640" cy="43891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Raw Telemetry Archive</a:t>
            </a:r>
          </a:p>
          <a:p>
            <a:pPr algn="ctr">
              <a:defRPr sz="780" b="0">
                <a:solidFill>
                  <a:srgbClr val="64748B"/>
                </a:solidFill>
              </a:defRPr>
            </a:pPr>
            <a:r>
              <a:t>Immutable Observations with Quality Flags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