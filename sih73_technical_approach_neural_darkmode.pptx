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" y="54864"/>
            <a:ext cx="12081967" cy="6748272"/>
          </a:xfrm>
          <a:prstGeom prst="rect">
            <a:avLst/>
          </a:prstGeom>
          <a:noFill/>
          <a:ln w="317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64592"/>
            <a:ext cx="2011680" cy="566928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Dark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914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A2A5A"/>
                </a:solidFill>
              </a:defRPr>
            </a:pPr>
            <a:r>
              <a:t>TECHNICAL APPROACH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SIH Problem Statement 26073 • Automated Weather Station Sensor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4630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</a:defRPr>
            </a:pPr>
            <a:r>
              <a:t>SMART INDIA HACKATHON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4754880" cy="57150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Frontend </a:t>
            </a:r>
            <a:r>
              <a:rPr b="1" sz="819">
                <a:solidFill>
                  <a:srgbClr val="2563EB"/>
                </a:solidFill>
              </a:rPr>
              <a:t>(Operator UI): </a:t>
            </a:r>
            <a:r>
              <a:rPr b="0" sz="819">
                <a:solidFill>
                  <a:srgbClr val="334155"/>
                </a:solidFill>
              </a:rPr>
              <a:t>Next.js 14 &amp; React 18 web dashboard for interactive monitoring and live health metrics.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MapLibre GL </a:t>
            </a:r>
            <a:r>
              <a:rPr b="1" sz="819">
                <a:solidFill>
                  <a:srgbClr val="2563EB"/>
                </a:solidFill>
              </a:rPr>
              <a:t>(Station Map): </a:t>
            </a:r>
            <a:r>
              <a:rPr b="0" sz="819">
                <a:solidFill>
                  <a:srgbClr val="334155"/>
                </a:solidFill>
              </a:rPr>
              <a:t>Interactive geospatial map of AWS stations with color-coded health badges (Green, Red, Amber).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Recharts </a:t>
            </a:r>
            <a:r>
              <a:rPr b="1" sz="819">
                <a:solidFill>
                  <a:srgbClr val="2563EB"/>
                </a:solidFill>
              </a:rPr>
              <a:t>(Diurnal Graphs): </a:t>
            </a:r>
            <a:r>
              <a:rPr b="0" sz="819">
                <a:solidFill>
                  <a:srgbClr val="334155"/>
                </a:solidFill>
              </a:rPr>
              <a:t>Smooth 24-hour diurnal curves for temperature, pressure, and humidity to easily spot anomalies.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FastAPI &amp; Python 3.12 </a:t>
            </a:r>
            <a:r>
              <a:rPr b="1" sz="819">
                <a:solidFill>
                  <a:srgbClr val="2563EB"/>
                </a:solidFill>
              </a:rPr>
              <a:t>(Core Backend): </a:t>
            </a:r>
            <a:r>
              <a:rPr b="0" sz="819">
                <a:solidFill>
                  <a:srgbClr val="334155"/>
                </a:solidFill>
              </a:rPr>
              <a:t>Asynchronous REST backend for telemetry ingestion, neural model scoring, and alert delivery.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PostgreSQL Store </a:t>
            </a:r>
            <a:r>
              <a:rPr b="1" sz="819">
                <a:solidFill>
                  <a:srgbClr val="2563EB"/>
                </a:solidFill>
              </a:rPr>
              <a:t>(Central DB): </a:t>
            </a:r>
            <a:r>
              <a:rPr b="0" sz="819">
                <a:solidFill>
                  <a:srgbClr val="334155"/>
                </a:solidFill>
              </a:rPr>
              <a:t>High-volume historical repository via psycopg for raw observations, flags, and incident logs.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SQLite Cache </a:t>
            </a:r>
            <a:r>
              <a:rPr b="1" sz="819">
                <a:solidFill>
                  <a:srgbClr val="2563EB"/>
                </a:solidFill>
              </a:rPr>
              <a:t>(Offline / Local): </a:t>
            </a:r>
            <a:r>
              <a:rPr b="0" sz="819">
                <a:solidFill>
                  <a:srgbClr val="334155"/>
                </a:solidFill>
              </a:rPr>
              <a:t>Local edge cache and offline replay engine ensuring operations continue when internet is offline.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PyTorch CausalTCN </a:t>
            </a:r>
            <a:r>
              <a:rPr b="1" sz="819">
                <a:solidFill>
                  <a:srgbClr val="2563EB"/>
                </a:solidFill>
              </a:rPr>
              <a:t>(Deep Neural Net): </a:t>
            </a:r>
            <a:r>
              <a:rPr b="0" sz="819">
                <a:solidFill>
                  <a:srgbClr val="334155"/>
                </a:solidFill>
              </a:rPr>
              <a:t>Dilated causal 1D convolutions &amp; CausalGRU scanning time-series history without data leakage.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LightGBM &amp; Scikit-learn </a:t>
            </a:r>
            <a:r>
              <a:rPr b="1" sz="819">
                <a:solidFill>
                  <a:srgbClr val="2563EB"/>
                </a:solidFill>
              </a:rPr>
              <a:t>(Tree Ensemble): </a:t>
            </a:r>
            <a:r>
              <a:rPr b="0" sz="819">
                <a:solidFill>
                  <a:srgbClr val="334155"/>
                </a:solidFill>
              </a:rPr>
              <a:t>Gradient-boosted trees and Isolation Forest for tabular interactions and anomaly scoring.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CUSUM Algorithm </a:t>
            </a:r>
            <a:r>
              <a:rPr b="1" sz="819">
                <a:solidFill>
                  <a:srgbClr val="2563EB"/>
                </a:solidFill>
              </a:rPr>
              <a:t>(Drift Detector): </a:t>
            </a:r>
            <a:r>
              <a:rPr b="0" sz="819">
                <a:solidFill>
                  <a:srgbClr val="334155"/>
                </a:solidFill>
              </a:rPr>
              <a:t>Cumulative sum tracking detecting gradual sensor calibration loss and persistent bias decay.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Physical Limits &amp; Step QC </a:t>
            </a:r>
            <a:r>
              <a:rPr b="1" sz="819">
                <a:solidFill>
                  <a:srgbClr val="2563EB"/>
                </a:solidFill>
              </a:rPr>
              <a:t>(Rule Checks): </a:t>
            </a:r>
            <a:r>
              <a:rPr b="0" sz="819">
                <a:solidFill>
                  <a:srgbClr val="334155"/>
                </a:solidFill>
              </a:rPr>
              <a:t>WMO physical range limits and sudden rate-of-change jump detection for invalid readings.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Spatial Consensus </a:t>
            </a:r>
            <a:r>
              <a:rPr b="1" sz="819">
                <a:solidFill>
                  <a:srgbClr val="2563EB"/>
                </a:solidFill>
              </a:rPr>
              <a:t>(Peer Validation): </a:t>
            </a:r>
            <a:r>
              <a:rPr b="0" sz="819">
                <a:solidFill>
                  <a:srgbClr val="334155"/>
                </a:solidFill>
              </a:rPr>
              <a:t>Cross-validates with nearby stations accounting for distance and elevation differences.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Decision Triage </a:t>
            </a:r>
            <a:r>
              <a:rPr b="1" sz="819">
                <a:solidFill>
                  <a:srgbClr val="2563EB"/>
                </a:solidFill>
              </a:rPr>
              <a:t>(Classifier): </a:t>
            </a:r>
            <a:r>
              <a:rPr b="0" sz="819">
                <a:solidFill>
                  <a:srgbClr val="334155"/>
                </a:solidFill>
              </a:rPr>
              <a:t>Separates real weather events from sensor hardware faults, routing ambiguous cases to review.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819">
                <a:solidFill>
                  <a:srgbClr val="DC2626"/>
                </a:solidFill>
              </a:rPr>
              <a:t>❖ </a:t>
            </a:r>
            <a:r>
              <a:rPr b="1" sz="819">
                <a:solidFill>
                  <a:srgbClr val="DC2626"/>
                </a:solidFill>
              </a:rPr>
              <a:t>Physics-Based Imputation </a:t>
            </a:r>
            <a:r>
              <a:rPr b="1" sz="819">
                <a:solidFill>
                  <a:srgbClr val="2563EB"/>
                </a:solidFill>
              </a:rPr>
              <a:t>(Gap Filling): </a:t>
            </a:r>
            <a:r>
              <a:rPr b="0" sz="819">
                <a:solidFill>
                  <a:srgbClr val="334155"/>
                </a:solidFill>
              </a:rPr>
              <a:t>Clearly labeled estimated readings for continuity, preserving original raw data untouched.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005840"/>
            <a:ext cx="2011680" cy="43891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AWS Telemetry Ingest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Temp • Pressure • 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91640"/>
            <a:ext cx="1645920" cy="43891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SQLite Cache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Edge Replay &amp; Offline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2011680" cy="548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FastAPI Backend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Python 3.12 Asynchronous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200400"/>
            <a:ext cx="1645920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Web Application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Next.js 14 &amp; 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160520"/>
            <a:ext cx="1417320" cy="43891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MapLibre GL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Station Geo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160520"/>
            <a:ext cx="1417320" cy="438912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Recharts Visuals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Diurnal Multi-Trace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005840"/>
            <a:ext cx="2926080" cy="402336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Physical Limits &amp; Step QC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WMO Bounds &amp; Step-Jump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481328"/>
            <a:ext cx="2926080" cy="402336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CUSUM Drift Detector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Cumulative Sum Sensor Offset Decay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956816"/>
            <a:ext cx="2926080" cy="402336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PyTorch CausalTCN Neural Net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Dilated 1D Convolutions &amp; CausalGRU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432304"/>
            <a:ext cx="2926080" cy="402336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LightGBM &amp; Scikit-learn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Multivariate GBDT &amp; Isolation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907792"/>
            <a:ext cx="2926080" cy="402336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Spatial Consensus Engine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Peer Station Validation with Elevation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383280"/>
            <a:ext cx="2926080" cy="402336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Decision &amp; Triage Matrix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Weather vs Fault vs Needs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858768"/>
            <a:ext cx="2926080" cy="402336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Data Imputation Engine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Physics-Informed Linear / Neighbor Imputation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334256"/>
            <a:ext cx="2926080" cy="402336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Operator Alert Service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Actionable Diagnoses &amp; Explanations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809744"/>
            <a:ext cx="2926080" cy="402336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PostgreSQL Central Store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Historical Database &amp; Incident Logs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285232"/>
            <a:ext cx="2926080" cy="40233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Raw Telemetry Archive</a:t>
            </a:r>
          </a:p>
          <a:p>
            <a:pPr algn="ctr">
              <a:defRPr sz="750" b="0">
                <a:solidFill>
                  <a:srgbClr val="64748B"/>
                </a:solidFill>
              </a:defRPr>
            </a:pPr>
            <a:r>
              <a:t>Immutable Observations with Flags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5897880"/>
            <a:ext cx="65836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REAL-TIME MONITORING: From sensors to insights  |  AI-POWERED: PyTorch CausalTCN + GBDT  |  TRANSPARENT: Raw data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