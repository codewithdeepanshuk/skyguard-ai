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3c93132c134927" /><Relationship Type="http://schemas.openxmlformats.org/officeDocument/2006/relationships/extended-properties" Target="/docProps/app.xml" Id="R20a6fe0e453d4483" /><Relationship Type="http://schemas.openxmlformats.org/officeDocument/2006/relationships/officeDocument" Target="/ppt/presentation.xml" Id="Ra389fac3cd4548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b3442ad0c7446a"/>
  </p:sldMasterIdLst>
  <p:notesMasterIdLst>
    <p:notesMasterId xmlns:r="http://schemas.openxmlformats.org/officeDocument/2006/relationships" r:id="Recd2b4838121423d"/>
  </p:notesMasterIdLst>
  <p:sldIdLst>
    <p:sldId xmlns:r="http://schemas.openxmlformats.org/officeDocument/2006/relationships" id="256" r:id="Rfa83d02691564013"/>
    <p:sldId xmlns:r="http://schemas.openxmlformats.org/officeDocument/2006/relationships" id="257" r:id="Rb81868f52e2f4900"/>
    <p:sldId xmlns:r="http://schemas.openxmlformats.org/officeDocument/2006/relationships" id="258" r:id="Ra5f702c48e6a43fc"/>
    <p:sldId xmlns:r="http://schemas.openxmlformats.org/officeDocument/2006/relationships" id="259" r:id="Rde472e9d0f0d4721"/>
    <p:sldId xmlns:r="http://schemas.openxmlformats.org/officeDocument/2006/relationships" id="260" r:id="R414425e06f1b49b8"/>
    <p:sldId xmlns:r="http://schemas.openxmlformats.org/officeDocument/2006/relationships" id="261" r:id="Re2f5adda95c644e8"/>
    <p:sldId xmlns:r="http://schemas.openxmlformats.org/officeDocument/2006/relationships" id="262" r:id="Rabce0772a503481c"/>
    <p:sldId xmlns:r="http://schemas.openxmlformats.org/officeDocument/2006/relationships" id="263" r:id="R34cef8e8d6ef468d"/>
    <p:sldId xmlns:r="http://schemas.openxmlformats.org/officeDocument/2006/relationships" id="264" r:id="R3b90fbf0b59b4b5a"/>
    <p:sldId xmlns:r="http://schemas.openxmlformats.org/officeDocument/2006/relationships" id="265" r:id="Rd81fd270b4854d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2621bce7654235" /><Relationship Type="http://schemas.openxmlformats.org/officeDocument/2006/relationships/slideMaster" Target="/ppt/slideMasters/slideMaster1.xml" Id="Rdcb3442ad0c7446a" /><Relationship Type="http://schemas.openxmlformats.org/officeDocument/2006/relationships/notesMaster" Target="/ppt/notesMasters/notesMaster1.xml" Id="Recd2b4838121423d" /><Relationship Type="http://schemas.openxmlformats.org/officeDocument/2006/relationships/presProps" Target="/ppt/presProps.xml" Id="R3438c38fae3e4ba8" /><Relationship Type="http://schemas.openxmlformats.org/officeDocument/2006/relationships/tableStyles" Target="/ppt/tableStyles.xml" Id="Ra42ef1ad5c3a40d1" /><Relationship Type="http://schemas.openxmlformats.org/officeDocument/2006/relationships/slide" Target="/ppt/slides/slide1.xml" Id="Rfa83d02691564013" /><Relationship Type="http://schemas.openxmlformats.org/officeDocument/2006/relationships/slide" Target="/ppt/slides/slide2.xml" Id="Rb81868f52e2f4900" /><Relationship Type="http://schemas.openxmlformats.org/officeDocument/2006/relationships/slide" Target="/ppt/slides/slide3.xml" Id="Ra5f702c48e6a43fc" /><Relationship Type="http://schemas.openxmlformats.org/officeDocument/2006/relationships/slide" Target="/ppt/slides/slide4.xml" Id="Rde472e9d0f0d4721" /><Relationship Type="http://schemas.openxmlformats.org/officeDocument/2006/relationships/slide" Target="/ppt/slides/slide5.xml" Id="R414425e06f1b49b8" /><Relationship Type="http://schemas.openxmlformats.org/officeDocument/2006/relationships/slide" Target="/ppt/slides/slide6.xml" Id="Re2f5adda95c644e8" /><Relationship Type="http://schemas.openxmlformats.org/officeDocument/2006/relationships/slide" Target="/ppt/slides/slide7.xml" Id="Rabce0772a503481c" /><Relationship Type="http://schemas.openxmlformats.org/officeDocument/2006/relationships/slide" Target="/ppt/slides/slide8.xml" Id="R34cef8e8d6ef468d" /><Relationship Type="http://schemas.openxmlformats.org/officeDocument/2006/relationships/slide" Target="/ppt/slides/slide9.xml" Id="R3b90fbf0b59b4b5a" /><Relationship Type="http://schemas.openxmlformats.org/officeDocument/2006/relationships/slide" Target="/ppt/slides/slide10.xml" Id="Rd81fd270b4854d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441e3b99d94e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kyGuard Grid">
      <a:dk1>
        <a:srgbClr val="000000"/>
      </a:dk1>
      <a:lt1>
        <a:srgbClr val="FFFFFF"/>
      </a:lt1>
      <a:dk2>
        <a:srgbClr val="101827"/>
      </a:dk2>
      <a:lt2>
        <a:srgbClr val="D9E2EC"/>
      </a:lt2>
      <a:accent1>
        <a:srgbClr val="2563EB"/>
      </a:accent1>
      <a:accent2>
        <a:srgbClr val="0F766E"/>
      </a:accent2>
      <a:accent3>
        <a:srgbClr val="0EA5E9"/>
      </a:accent3>
      <a:accent4>
        <a:srgbClr val="D97706"/>
      </a:accent4>
      <a:accent5>
        <a:srgbClr val="DC2626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kyGuard Gri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18f138125b44ab" /><Relationship Type="http://schemas.openxmlformats.org/officeDocument/2006/relationships/notesMaster" Target="/ppt/notesMasters/notesMaster1.xml" Id="R75b9e690bba14a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1ff8a3a6584eab" /><Relationship Type="http://schemas.openxmlformats.org/officeDocument/2006/relationships/notesMaster" Target="/ppt/notesMasters/notesMaster1.xml" Id="Ra05d349134dc48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0f9a206a0b4da9" /><Relationship Type="http://schemas.openxmlformats.org/officeDocument/2006/relationships/notesMaster" Target="/ppt/notesMasters/notesMaster1.xml" Id="R04e424d88d2343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9d5e630f3e4b6c" /><Relationship Type="http://schemas.openxmlformats.org/officeDocument/2006/relationships/notesMaster" Target="/ppt/notesMasters/notesMaster1.xml" Id="R52eb3e4bd5f24d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dfdd5a6caa4598" /><Relationship Type="http://schemas.openxmlformats.org/officeDocument/2006/relationships/notesMaster" Target="/ppt/notesMasters/notesMaster1.xml" Id="Reb425e282e5b4c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b5d11eeee24649" /><Relationship Type="http://schemas.openxmlformats.org/officeDocument/2006/relationships/notesMaster" Target="/ppt/notesMasters/notesMaster1.xml" Id="Rcc5b682b4b5942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74a9e7a453433a" /><Relationship Type="http://schemas.openxmlformats.org/officeDocument/2006/relationships/notesMaster" Target="/ppt/notesMasters/notesMaster1.xml" Id="Rfbfd57d3ef8c4f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cb57b714fc428c" /><Relationship Type="http://schemas.openxmlformats.org/officeDocument/2006/relationships/notesMaster" Target="/ppt/notesMasters/notesMaster1.xml" Id="R2baa16f566eb41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d9b42ef3974bea" /><Relationship Type="http://schemas.openxmlformats.org/officeDocument/2006/relationships/notesMaster" Target="/ppt/notesMasters/notesMaster1.xml" Id="R546029817e0d4c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b422f8f5d54dd0" /><Relationship Type="http://schemas.openxmlformats.org/officeDocument/2006/relationships/notesMaster" Target="/ppt/notesMasters/notesMaster1.xml" Id="R68cdfa590a9b47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decision: SkyGuard is an end-to-end software solution for the AWS anomaly problem, with both controlled offline proof and genuine live observations.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challenge as trustworthy observations. Emphasize that the public statement asks for real-time anomaly detection, genuine-weather separation, confidence, explanation and sensor health.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https://sih-fit.vercel.app/problem/SIH26073</a:t>
            </a:r>
          </a:p>
          <a:p xmlns:a="http://schemas.openxmlformats.org/drawingml/2006/main">
            <a:r>
              <a:t>- https://github.com/jeevansai-hub/SIH-2026-/blob/main/ps_2026/README.md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timeline to show that the project was built in dependency order: provenance first, models second, delivery last.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Both offline replay and live observations enter the same quality, feature and decision path. The frozen policy prevents demo-time threshold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foundation of the credibility story. The fault labels are controlled injections, but the underlying meteorological observations and metadata are genuine official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https://www.ncei.noaa.gov/products/land-based-station/integrated-surface-database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call 99.19% the model's only accuracy. Anomalies are rare, so present precision, recall, F1, AUCPR, false alarms and episode recall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directly resolves the earlier limitation: we improved review coverage, calibrated uncertainty by split, and added strict automatic gates. We did not claim all corrections are safe to apply automatically.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the live mode on during the demo. Be precise: the feed is genuine METAR terminal data. Humidity is derived from temperature and dew point. Live alerts are signals; benchmark accuracy comes from the locked labelled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https://connect.aviationweather.gov/data/api/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honest compliance answer: complete for the SIH software prototype, not yet an operational IMD deployment. Hardware is not required for this team-constrained solution.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https://sih-fit.vercel.app/problem/SIH26073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outcome and ask judges to test both scenarios: one-station drift and regional weather. Then show the live feed. Do not overclaim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487a7895647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388d056fb84d25" /><Relationship Type="http://schemas.openxmlformats.org/officeDocument/2006/relationships/slideLayout" Target="/ppt/slideLayouts/slideLayout1.xml" Id="R868022592d884d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8022592d884d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kyGuard Grid">
      <a:dk1>
        <a:srgbClr val="000000"/>
      </a:dk1>
      <a:lt1>
        <a:srgbClr val="FFFFFF"/>
      </a:lt1>
      <a:dk2>
        <a:srgbClr val="101827"/>
      </a:dk2>
      <a:lt2>
        <a:srgbClr val="D9E2EC"/>
      </a:lt2>
      <a:accent1>
        <a:srgbClr val="2563EB"/>
      </a:accent1>
      <a:accent2>
        <a:srgbClr val="0F766E"/>
      </a:accent2>
      <a:accent3>
        <a:srgbClr val="0EA5E9"/>
      </a:accent3>
      <a:accent4>
        <a:srgbClr val="D97706"/>
      </a:accent4>
      <a:accent5>
        <a:srgbClr val="DC2626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kyGuard Gri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440192b204f15" /><Relationship Type="http://schemas.openxmlformats.org/officeDocument/2006/relationships/image" Target="/ppt/media/image.jpeg" Id="Raf6c248469824828" /><Relationship Type="http://schemas.openxmlformats.org/officeDocument/2006/relationships/notesSlide" Target="/ppt/notesSlides/notesSlide1.xml" Id="Rcd1338c4e95441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8b523caa644f7" /><Relationship Type="http://schemas.openxmlformats.org/officeDocument/2006/relationships/notesSlide" Target="/ppt/notesSlides/notesSlide2.xml" Id="R68fcff786bc44a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021e1baea42d8" /><Relationship Type="http://schemas.openxmlformats.org/officeDocument/2006/relationships/notesSlide" Target="/ppt/notesSlides/notesSlide3.xml" Id="Rfbbb875bb93843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2a1ef54584c3a" /><Relationship Type="http://schemas.openxmlformats.org/officeDocument/2006/relationships/notesSlide" Target="/ppt/notesSlides/notesSlide4.xml" Id="R63214d2afa4849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53844e5284c4a" /><Relationship Type="http://schemas.openxmlformats.org/officeDocument/2006/relationships/notesSlide" Target="/ppt/notesSlides/notesSlide5.xml" Id="R89e743f39de044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3b84a5911431f" /><Relationship Type="http://schemas.openxmlformats.org/officeDocument/2006/relationships/chart" Target="/ppt/slides/charts/chart1.xml" Id="Ra235c6330d634e3d" /><Relationship Type="http://schemas.openxmlformats.org/officeDocument/2006/relationships/notesSlide" Target="/ppt/notesSlides/notesSlide6.xml" Id="R9959c5417c8840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c72e33ed54864" /><Relationship Type="http://schemas.openxmlformats.org/officeDocument/2006/relationships/notesSlide" Target="/ppt/notesSlides/notesSlide7.xml" Id="R326d80a1108649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da522140d440c" /><Relationship Type="http://schemas.openxmlformats.org/officeDocument/2006/relationships/image" Target="/ppt/media/image2.jpeg" Id="Rceb8ece84ed04f5e" /><Relationship Type="http://schemas.openxmlformats.org/officeDocument/2006/relationships/notesSlide" Target="/ppt/notesSlides/notesSlide8.xml" Id="Rca963f3afdb449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8e12132334601" /><Relationship Type="http://schemas.openxmlformats.org/officeDocument/2006/relationships/notesSlide" Target="/ppt/notesSlides/notesSlide9.xml" Id="R7da23e1807b740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c518a7b0145c4" /><Relationship Type="http://schemas.openxmlformats.org/officeDocument/2006/relationships/notesSlide" Target="/ppt/notesSlides/notesSlide10.xml" Id="R175dd25f25c448a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Unseen time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Precision</c:v>
              </c:pt>
              <c:pt idx="1">
                <c:v>Recall</c:v>
              </c:pt>
              <c:pt idx="2">
                <c:v>F1</c:v>
              </c:pt>
              <c:pt idx="3">
                <c:v>AUCPR</c:v>
              </c:pt>
              <c:pt idx="4">
                <c:v>Episode recall</c:v>
              </c:pt>
            </c:strLit>
          </c:cat>
          <c:val>
            <c:numLit>
              <c:formatCode>General</c:formatCode>
              <c:ptCount val="5"/>
              <c:pt idx="0">
                <c:v>76.92</c:v>
              </c:pt>
              <c:pt idx="1">
                <c:v>39.82</c:v>
              </c:pt>
              <c:pt idx="2">
                <c:v>52.47</c:v>
              </c:pt>
              <c:pt idx="3">
                <c:v>46.77</c:v>
              </c:pt>
              <c:pt idx="4">
                <c:v>74.31</c:v>
              </c:pt>
            </c:numLit>
          </c:val>
        </c:ser>
        <c:ser>
          <c:idx val="1"/>
          <c:order val="1"/>
          <c:tx>
            <c:v>Unseen stations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5"/>
              <c:pt idx="0">
                <c:v>Precision</c:v>
              </c:pt>
              <c:pt idx="1">
                <c:v>Recall</c:v>
              </c:pt>
              <c:pt idx="2">
                <c:v>F1</c:v>
              </c:pt>
              <c:pt idx="3">
                <c:v>AUCPR</c:v>
              </c:pt>
              <c:pt idx="4">
                <c:v>Episode recall</c:v>
              </c:pt>
            </c:strLit>
          </c:cat>
          <c:val>
            <c:numLit>
              <c:formatCode>General</c:formatCode>
              <c:ptCount val="5"/>
              <c:pt idx="0">
                <c:v>78.57</c:v>
              </c:pt>
              <c:pt idx="1">
                <c:v>44</c:v>
              </c:pt>
              <c:pt idx="2">
                <c:v>56.41</c:v>
              </c:pt>
              <c:pt idx="3">
                <c:v>51.83</c:v>
              </c:pt>
              <c:pt idx="4">
                <c:v>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1827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D80EF-0B16-444F-8097-7D3E107C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DDCB3-12CF-4A7E-9AF7-81ACF5B7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SIH 26073 · PHASE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84274-3D19-4867-B8B8-05E381BE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SkyGuard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099AA-FEAA-4E1F-8790-C91DF5B5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A self-healing weather observation network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71990-0D8A-40E3-9C51-84B2D916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Detect faults. Preserve genuine weather. Explain every decision. Run live or fully offline.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82ABE-6DEE-4BC7-AF8B-935E7A12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857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415CA-A30B-48A7-859B-83C667F2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1628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578,448 observations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5619E-8277-4B21-928C-606EB4B5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C0034-C5DF-4121-BD6D-B51896DB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2437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24 Indian stations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98244-76A3-4F5C-B3D4-8BA0E832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49580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26C41-CA03-40BC-9921-14088EF6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5243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rPr>
              <a:t>51 tests pass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c248469824828"/>
          <a:srcRect xmlns:a="http://schemas.openxmlformats.org/drawingml/2006/main" l="0" t="6031" r="0" b="6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274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FAD56-4503-4384-9B82-F545DFE3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Software · AI/ML · Disaster management</a:t>
            </a:r>
          </a:p>
        </p:txBody>
      </p:sp>
    </p:spTree>
    <p:extLst>
      <p:ext uri="{BB962C8B-B14F-4D97-AF65-F5344CB8AC3E}">
        <p14:creationId xmlns:p14="http://schemas.microsoft.com/office/powerpoint/2010/main" val="1914504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58439-C9DC-4B6F-A84F-B795D90F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SIH PROBLEM 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B5503-76E6-468A-8730-811173C7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The problem is trust—not just thresholding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1C4F5-4049-4FC9-B797-78F53C5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7ED2F-254B-411C-BCAA-6E22932D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953000" cy="4429125"/>
          </a:xfrm>
          <a:prstGeom xmlns:a="http://schemas.openxmlformats.org/drawingml/2006/main" prst="roundRect">
            <a:avLst>
              <a:gd name="adj" fmla="val 34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FF478-D23E-4669-BCD5-403C3275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Three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579F5-40DA-41A4-9B76-95C63C2F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28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Temperature</a:t>
            </a:r>
          </a:p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Pressure</a:t>
            </a:r>
          </a:p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Relative humidity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6FB50-6A9E-4AFA-B365-3FC777CF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 spike may be a failed sensor—or a real regional event. The system must know the difference in real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65B23-2766-4C48-9592-2BBFC05A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28750"/>
            <a:ext cx="565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F4907-9CDD-43D8-9A6D-135E9520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906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Detect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84CB3-E33D-4BD3-8B06-68D974C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52575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spikes, drift, frozen and transport faults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A26A2-78AC-4E9F-B2DF-EC365D38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95550"/>
            <a:ext cx="565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D131B-1A41-48BF-98E0-75BA29F1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574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Distinguish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C3378-3B7F-4397-9A2E-7E48D328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9375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genuine weather from sensor failure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6FAC6-D7FD-4A23-A22A-3DCA7593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62350"/>
            <a:ext cx="565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52BCF-2230-406C-8D87-9DC33987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242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D7002-4AEA-43EC-BAE2-99F5DACF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86175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severity, confidence and root cause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5329D-E220-4449-8D16-55E6776F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29150"/>
            <a:ext cx="565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FCBD0-5461-4D7A-942F-77F1D30C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910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15969-54FC-4B57-B7FB-F864A92B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52975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correct safely and recommend maintenance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CBA70-504B-4B43-ACAC-0A8B1B42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581650"/>
            <a:ext cx="3333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1F43E-7831-44C9-81AA-8C9F8977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102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MANDATORY SOFTWARE SCOPE: COMPLETE</a:t>
            </a:r>
          </a:p>
        </p:txBody>
      </p:sp>
    </p:spTree>
    <p:extLst>
      <p:ext uri="{BB962C8B-B14F-4D97-AF65-F5344CB8AC3E}">
        <p14:creationId xmlns:p14="http://schemas.microsoft.com/office/powerpoint/2010/main" val="7815751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83145-27A0-4D75-8C5F-1A11C376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DELIVERY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840CE-4BB5-4879-AD0D-89812EB2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Nine phases turned a concept into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5C172-3012-45FA-89A9-E01E09ED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66750" y="33337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1C1CA-922C-4E46-B59E-1672F52F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5C5A2-2B90-4AE7-B5D3-5C2AE930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01–03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BBD26-D0F0-431D-B53B-367DBD17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Data &amp; 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E34E4-EB6E-4D17-8648-D7290F7A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Verified source data, 13-fault library and 72 online-safe features.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56F5C-1C93-4C79-B60F-FAC7F0A7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C56C3-9DDF-47A8-8766-9BF0B533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04–06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C811F-F3A9-4554-9EA4-7C5FFCD3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90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Models &amp; safe repair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4B86B-6504-426F-9685-139B3908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672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Calibrated detection, weather protection, diagnosis, correction and health.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74699-6A95-40EB-B98D-6BA0E208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4D671-2363-4EF7-8963-8C68F9B7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03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07–09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06C30-C6A4-40D8-AD53-E813A1CD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90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Platform &amp; delivery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46D48-2037-4B6A-9A1C-EC561E51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Streaming API, dashboard, genuine live feed, verification and SIH package.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0C142-EA81-4CE5-8AA2-80CA3393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67375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F64A7-88FD-4E23-AE50-FA705CD6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959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ALL PHASES COMPLETE</a:t>
            </a:r>
          </a:p>
        </p:txBody>
      </p:sp>
    </p:spTree>
    <p:extLst>
      <p:ext uri="{BB962C8B-B14F-4D97-AF65-F5344CB8AC3E}">
        <p14:creationId xmlns:p14="http://schemas.microsoft.com/office/powerpoint/2010/main" val="1490771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3283C-FBF9-4D4E-9A60-86B097A3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D01C2-47C2-4E64-B677-EFD22129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One pipeline serves offline proof and live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D24E2-F04F-4230-8D5E-EA48BFB4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25F49-0DA1-49FA-9673-14B561EA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057400" cy="33528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269FA-F231-452E-9AE0-9E26C007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76E9F-4147-46A3-8A3B-7F9C0612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71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NOAA benchmark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Live METAR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Replay scenarios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44C24-3BC8-4180-B008-00A08F70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384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12819-55B8-4564-82C7-FCD9CBDB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95450"/>
            <a:ext cx="2057400" cy="33528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4E19F-01A3-4C64-AACB-8D4BFC5E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405F1-4390-4A93-A256-15EC1065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171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Schema + QC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Temporal features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Neighbour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05574-A0FB-42C8-995A-E73949E3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384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0B7CA-E6B0-4383-AEE3-B3170E4A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95450"/>
            <a:ext cx="2057400" cy="33528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27B14-83C6-40EB-AD85-4B60A3C0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ED629-704B-4CBB-811E-2F72B1E5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00300"/>
            <a:ext cx="171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Fault probability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Weather decision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Root cause + abstain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9D882-2FDF-44FA-822C-6BB89EE6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384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1229F-1625-49AA-9CFC-0E6912A7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95450"/>
            <a:ext cx="2057400" cy="33528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8ED8-5B6C-4911-9D22-B302F046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6EA7C-2E26-42C5-BD66-E4209554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171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Correction + interval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Health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Maintenance priority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C4050-2641-44CB-AE21-3D9B8D5F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C2A65-057F-41ED-AA4F-DC301834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95450"/>
            <a:ext cx="1352550" cy="335280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052A0-A294-4B2D-9FCC-B6F8D34F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8859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950606-B294-46A8-9FDD-40FD1AB4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400300"/>
            <a:ext cx="10096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REST 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CSV incident 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B935CE-588A-40E7-A4F5-97C4058A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10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rPr>
              <a:t>Frozen 2024 model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26B17-57CE-4E0A-B2ED-6A9FD4F8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No future leakage · explicit unknown outcome · corrections remain advisory</a:t>
            </a:r>
          </a:p>
        </p:txBody>
      </p:sp>
    </p:spTree>
    <p:extLst>
      <p:ext uri="{BB962C8B-B14F-4D97-AF65-F5344CB8AC3E}">
        <p14:creationId xmlns:p14="http://schemas.microsoft.com/office/powerpoint/2010/main" val="595123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B19BC-10CD-4646-86E9-02146D5F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37833-45DB-4C21-828A-9DDEA2CA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The benchmark is genuine, hashed and leakage-safe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7F52C-3C8F-48DA-AC98-9113F321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1BE88-5C22-4014-8A8A-606369F7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NOAA/NCEI Global Hourly ISD · India · 2022–2024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391900" cy="3924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476750"/>
                <a:gridCol w="2381250"/>
                <a:gridCol w="4533900"/>
              </a:tblGrid>
              <a:tr h="49053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Processed observations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578,448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Deduplicated</a:t>
                      </a:r>
                    </a:p>
                  </a:txBody>
                  <a:tcPr marL="91440" marR="91440" marT="45720" marB="45720"/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Stations / clusters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24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Metadata checked</a:t>
                      </a:r>
                    </a:p>
                  </a:txBody>
                  <a:tcPr marL="91440" marR="91440" marT="45720" marB="45720"/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Source files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72 observations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SHA-256 manifest</a:t>
                      </a:r>
                    </a:p>
                  </a:txBody>
                  <a:tcPr marL="91440" marR="91440" marT="45720" marB="45720"/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Clean candidates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98.4761%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Range + quality screened</a:t>
                      </a:r>
                    </a:p>
                  </a:txBody>
                  <a:tcPr marL="91440" marR="91440" marT="45720" marB="45720"/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Model split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2022 / 2023 / 2024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Train / select / locked test</a:t>
                      </a:r>
                    </a:p>
                  </a:txBody>
                  <a:tcPr marL="91440" marR="91440" marT="45720" marB="45720"/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Unseen station holdout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4 stations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Never trained</a:t>
                      </a:r>
                    </a:p>
                  </a:txBody>
                  <a:tcPr marL="91440" marR="91440" marT="45720" marB="45720"/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Fault library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546 episodes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827"/>
                          </a:solidFill>
                        </a:rPr>
                        <a:t>13 classes + weather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709A6-01CF-4DD1-B561-F2A7AEFF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B869C-2577-4C1D-997E-E36E14CC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14/14 SOURCE CHECKS PASS</a:t>
            </a:r>
          </a:p>
        </p:txBody>
      </p:sp>
    </p:spTree>
    <p:extLst>
      <p:ext uri="{BB962C8B-B14F-4D97-AF65-F5344CB8AC3E}">
        <p14:creationId xmlns:p14="http://schemas.microsoft.com/office/powerpoint/2010/main" val="5500806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76438-893F-424B-86EF-AFBF1E02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LOCKED 2024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EB247-6E7D-4F77-A2E9-892C5D2A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The model catches episodes with low false-alarm pressure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3DFB1-FF48-4859-BD62-F5AB874A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66675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35c6330d634e3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00BF7-031C-4635-8C34-1A0309A0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76375"/>
            <a:ext cx="3886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39BAE-AA21-4DBE-88F6-64FEB0D1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9725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WEATHER PROTECTION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F9892-1CE6-43FA-9B66-EAF8092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66900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87.97% 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79AA4-C123-4626-BA1A-7CB4B56F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824 regional-weather rows · 1.699% fault FPR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27EB1-9D9D-4353-9D7F-B246E35A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24175"/>
            <a:ext cx="3886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93CD2-ED62-41A2-A45F-70409519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57525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EVENT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9B261-7DA3-4BB7-B527-12B94F3B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99.19%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550EF-8AF7-4700-8323-0C7E5E04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Accuracy is contextual; use F1/AUCPR for faults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BDDB6-4C5A-4EED-816B-0E9E459C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71975"/>
            <a:ext cx="3886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427AD-CEC8-4927-AE57-81B6A470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05325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rPr>
              <a:t>FALSE ALARMS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B8C48-2D24-4564-91DD-E531AC66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0.031/day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033FC-ACDC-4F52-934C-A1DD5CB1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3875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Per station-day on unseen time</a:t>
            </a:r>
          </a:p>
        </p:txBody>
      </p:sp>
    </p:spTree>
    <p:extLst>
      <p:ext uri="{BB962C8B-B14F-4D97-AF65-F5344CB8AC3E}">
        <p14:creationId xmlns:p14="http://schemas.microsoft.com/office/powerpoint/2010/main" val="10061574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D6A0D3-035A-424F-943A-B4ADB663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SAFE REPAIR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EBE9D-839F-4ECA-9CB8-66CF8101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Correction improved values—but automation stays gated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20187-9F59-4DCB-B56B-8B508A71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1A897-12B2-45AA-9089-AF0A750C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34290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A571D-2433-4FE7-A4B9-84523F04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TEMPERATURE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FBA04-FBEE-4F60-B4B7-5CB0C3A4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1.66 °C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7717B-2E58-4E85-AB35-F3359C41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corrected MAE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3F1D8-51FF-48A9-8E5B-AE2D5BE4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85.64% error reduction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E1B7A-1FA6-43C1-80DC-1059094B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43050"/>
            <a:ext cx="34290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CCFA1-6B28-4AB3-9B70-63F21B35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PRESSURE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18E8E-D22E-42AF-BF45-3F527C9F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1.56 hPa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EF8A3-2E4C-4B97-9CEF-EFDD8BD1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corrected MAE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83BF9-25E2-4737-B860-F474F4E4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813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98.63% error reduction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D1260-436A-4B76-9D58-653DBA39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43050"/>
            <a:ext cx="34290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1F999-B1D9-4B09-8158-EC369A3B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rPr>
              <a:t>HUMIDITY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4A089-3382-4CE1-916C-AC53041B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12.92% RH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2A0C3-78D9-435B-A834-2AF609DA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corrected MAE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F7B33-B673-4720-9FD0-DE224E36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rPr>
              <a:t>57.86% error reduction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ECDBF-9A06-435E-B4C2-7F6CC6E0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09728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6E5927-88EB-4F6F-827C-8B4DF8D2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21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4FE74-D647-43B6-9668-7AD7D7BD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62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automatic temperature/pressure repairs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B52EA-A6D5-464A-9E99-B4EB438D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7D2FE"/>
                </a:solidFill>
                <a:latin typeface="Helvetica Neue"/>
                <a:ea typeface="Helvetica Neue"/>
                <a:cs typeface="Helvetica Neue"/>
              </a:rPr>
              <a:t>zero measured false corrections across both locked 2024 holdouts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B64D3-6450-4DD5-A1B6-2094A673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3390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D4450-9C52-45D0-8FF5-E8B27713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624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rPr>
              <a:t>HUMIDITY: REVIEW 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59AB38-0802-4A40-9F64-9A4F81E3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Coverage is limited by missed detection and affected-sensor inference; advisory output remains the default.</a:t>
            </a:r>
          </a:p>
        </p:txBody>
      </p:sp>
    </p:spTree>
    <p:extLst>
      <p:ext uri="{BB962C8B-B14F-4D97-AF65-F5344CB8AC3E}">
        <p14:creationId xmlns:p14="http://schemas.microsoft.com/office/powerpoint/2010/main" val="17780646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DEED5-41A9-41ED-90A9-9C3E6AB5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LIVE OPERATION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B94CE-64D6-4A5E-AC03-63047A3E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Genuine live observations now use the same decision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C3DAE-A72B-4B66-B654-B4D81D5C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8ece84ed04f5e"/>
          <a:srcRect xmlns:a="http://schemas.openxmlformats.org/drawingml/2006/main" l="0" t="24843" r="0" b="24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352550"/>
            <a:ext cx="7810500" cy="4514850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564F9-FA19-4C25-A273-20A1701D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47800"/>
            <a:ext cx="2838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341AB-F53A-4A76-9F09-8339EF6A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811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REPORTING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012E9-C50B-468D-B74E-AE05B243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38325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12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D2F73-15B8-458D-B4AE-C0AAA20A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1457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configured Indian stations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2F364-2035-4A1B-A852-2617ADE3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838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EADB0-8B4A-457D-9457-3D6DA364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SNAPSHOT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DF985-B289-4A08-A331-24CDEBDF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67075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400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5A1E9-97CB-4E8A-9F53-EC9A72B0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433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genuine observations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4B9D3-0DD4-490F-8193-AB12B692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838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9F470-E19B-445B-8EF2-8ED0A6CE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386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rPr>
              <a:t>REFRESH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69D24-9667-4205-A190-B571987A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95825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5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729F8-DDBE-4354-9F58-EFAE8584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7207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optional dashboard schedule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813F8-70E4-471C-93FF-39E5BABB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Reported: temperature + QNH pressure · Derived: relative humidity</a:t>
            </a:r>
          </a:p>
        </p:txBody>
      </p:sp>
    </p:spTree>
    <p:extLst>
      <p:ext uri="{BB962C8B-B14F-4D97-AF65-F5344CB8AC3E}">
        <p14:creationId xmlns:p14="http://schemas.microsoft.com/office/powerpoint/2010/main" val="135684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CB431-BF9B-4588-9D47-DBD0996F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SIH COMPLIANCE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D0FDB-F0C9-444D-8BF3-A8263CAE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Every mandatory software output is demonstrated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6B3A0-D73D-430D-8A71-A400760E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11391900" cy="4476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33750"/>
                <a:gridCol w="6057900"/>
                <a:gridCol w="2000250"/>
              </a:tblGrid>
              <a:tr h="4476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Statement requirement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SkyGuard implementation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1827"/>
                          </a:solidFill>
                        </a:rPr>
                        <a:t>Real-time anomaly detection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827"/>
                          </a:solidFill>
                        </a:rPr>
                        <a:t>Streaming engine + live refresh + cache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A34A"/>
                          </a:solidFill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EAF8F1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1827"/>
                          </a:solidFill>
                        </a:rPr>
                        <a:t>Faults and communication errors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827"/>
                          </a:solidFill>
                        </a:rPr>
                        <a:t>13-class benchmark + stateful QC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A34A"/>
                          </a:solidFill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EAF8F1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1827"/>
                          </a:solidFill>
                        </a:rPr>
                        <a:t>Temporal / seasonal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827"/>
                          </a:solidFill>
                        </a:rPr>
                        <a:t>Causal rolling, EWMA and seasonal features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A34A"/>
                          </a:solidFill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EAF8F1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1827"/>
                          </a:solidFill>
                        </a:rPr>
                        <a:t>Multivariate consistency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827"/>
                          </a:solidFill>
                        </a:rPr>
                        <a:t>Cross-sensor and calibrated event 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A34A"/>
                          </a:solidFill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EAF8F1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1827"/>
                          </a:solidFill>
                        </a:rPr>
                        <a:t>Weather vs sensor failure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827"/>
                          </a:solidFill>
                        </a:rPr>
                        <a:t>Neighbour agreement + regional scenario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A34A"/>
                          </a:solidFill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EAF8F1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1827"/>
                          </a:solidFill>
                        </a:rPr>
                        <a:t>Confidence and explanation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827"/>
                          </a:solidFill>
                        </a:rPr>
                        <a:t>Calibration, abstention, evidence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A34A"/>
                          </a:solidFill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EAF8F1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1827"/>
                          </a:solidFill>
                        </a:rPr>
                        <a:t>Health and maintenance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827"/>
                          </a:solidFill>
                        </a:rPr>
                        <a:t>Sensor score, priority and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A34A"/>
                          </a:solidFill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EAF8F1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1827"/>
                          </a:solidFill>
                        </a:rPr>
                        <a:t>Correction / imputation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827"/>
                          </a:solidFill>
                        </a:rPr>
                        <a:t>Uncertainty-aware advisory correction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97706"/>
                          </a:solidFill>
                        </a:rPr>
                        <a:t>Optional done</a:t>
                      </a:r>
                    </a:p>
                  </a:txBody>
                  <a:tcPr marL="91440" marR="91440" marT="45720" marB="45720">
                    <a:solidFill>
                      <a:srgbClr val="FFF7E6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1827"/>
                          </a:solidFill>
                        </a:rPr>
                        <a:t>Dashboard and deployability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827"/>
                          </a:solidFill>
                        </a:rPr>
                        <a:t>Offline/local web UI, API and report export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A34A"/>
                          </a:solidFill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EAF8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13A6C-29AE-45F8-9B24-AB8A5141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rPr>
              <a:t>Production gap: replace the public METAR adapter with the official IMD AWS endpoint and validate on confirmed field faults.</a:t>
            </a:r>
          </a:p>
        </p:txBody>
      </p:sp>
    </p:spTree>
    <p:extLst>
      <p:ext uri="{BB962C8B-B14F-4D97-AF65-F5344CB8AC3E}">
        <p14:creationId xmlns:p14="http://schemas.microsoft.com/office/powerpoint/2010/main" val="15471896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ED3DB-244F-4BFF-8AB0-50227199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724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836E3-ADAF-4FD0-A53D-5B8858B7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D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DD9FF"/>
                </a:solidFill>
                <a:latin typeface="Helvetica Neue"/>
                <a:ea typeface="Helvetica Neue"/>
                <a:cs typeface="Helvetica Neue"/>
              </a:rPr>
              <a:t>READY FOR SIH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1D010-7D8C-49D5-A0EA-5CC65B8C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Trust every weather reading.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17EA6-CBDF-4B18-8BDD-53D9D684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SkyGuard detects, distinguishes, diagnoses, explains, corrects safely and prioritizes maintenance—live or fully offline.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D1B23-DF9A-473C-8CCF-D149AA90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23950"/>
            <a:ext cx="3124200" cy="3448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AFA83-234F-440D-9A4C-DAD2D549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4097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D3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FINAL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865AB-7056-403D-87A3-739D3779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8595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11323-9A6C-44CD-83C7-01EC9E3C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47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automated tests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30D27-E044-48D4-BBD9-4124D44B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670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 / 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9DEBF-EFFC-4523-9F87-B650B2B0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final delivery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2EFD0-6A0B-4057-9C70-D9F8139D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38600"/>
            <a:ext cx="2333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0F891-2B5C-423D-A8F4-FC393DE7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67175"/>
            <a:ext cx="2105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PHASES 0–9 COMPLETE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322A6-5E57-45E7-A33C-C6453EB4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D3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Next pilot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BA7C9-2D44-40B0-9B72-A1890843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Connect the official IMD AWS stream and collect confirmed maintenance labels for operational acceptance.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47CAA-F2A3-4197-BF92-2399B634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SkyGuard AI · SIH 26073</a:t>
            </a:r>
          </a:p>
        </p:txBody>
      </p:sp>
    </p:spTree>
    <p:extLst>
      <p:ext uri="{BB962C8B-B14F-4D97-AF65-F5344CB8AC3E}">
        <p14:creationId xmlns:p14="http://schemas.microsoft.com/office/powerpoint/2010/main" val="1623587177"/>
      </p:ext>
    </p:extLst>
  </p:cSld>
</p:sld>
</file>

<file path=ppt/theme/theme1.xml><?xml version="1.0" encoding="utf-8"?>
<a:theme xmlns:a="http://schemas.openxmlformats.org/drawingml/2006/main" name="ChatGPT">
  <a:themeElements>
    <a:clrScheme name="SkyGuard Grid">
      <a:dk1>
        <a:srgbClr val="000000"/>
      </a:dk1>
      <a:lt1>
        <a:srgbClr val="FFFFFF"/>
      </a:lt1>
      <a:dk2>
        <a:srgbClr val="101827"/>
      </a:dk2>
      <a:lt2>
        <a:srgbClr val="D9E2EC"/>
      </a:lt2>
      <a:accent1>
        <a:srgbClr val="2563EB"/>
      </a:accent1>
      <a:accent2>
        <a:srgbClr val="0F766E"/>
      </a:accent2>
      <a:accent3>
        <a:srgbClr val="0EA5E9"/>
      </a:accent3>
      <a:accent4>
        <a:srgbClr val="D97706"/>
      </a:accent4>
      <a:accent5>
        <a:srgbClr val="DC2626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kyGuard Gri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2026-08-26T08:57:20.5600000Z</dcterms:created>
  <dcterms:modified xsi:type="dcterms:W3CDTF">2026-08-26T08:57:20.5600000Z</dcterms:modified>
</coreProperties>
</file>