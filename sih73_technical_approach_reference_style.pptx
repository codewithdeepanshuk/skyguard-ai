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noFill/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2011680" cy="594360"/>
          </a:xfrm>
          <a:prstGeom prst="roundRect">
            <a:avLst/>
          </a:prstGeom>
          <a:noFill/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D4ED8"/>
                </a:solidFill>
              </a:defRPr>
            </a:pPr>
            <a:r>
              <a:t>Team SkyGuard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"/>
            <a:ext cx="6217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2A5A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560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72A"/>
                </a:solidFill>
              </a:defRPr>
            </a:pPr>
            <a:r>
              <a:t>SMART INDIA HACKATHON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4846320" cy="5669280"/>
          </a:xfrm>
          <a:prstGeom prst="roundRect">
            <a:avLst/>
          </a:prstGeom>
          <a:noFill/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Frontend </a:t>
            </a:r>
            <a:r>
              <a:rPr b="0" sz="950">
                <a:solidFill>
                  <a:srgbClr val="1E293B"/>
                </a:solidFill>
              </a:rPr>
              <a:t>Next.js 14 for reactive operator web app and React 18 for component lifecycle.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MapLibre GL </a:t>
            </a:r>
            <a:r>
              <a:rPr b="0" sz="950">
                <a:solidFill>
                  <a:srgbClr val="1E293B"/>
                </a:solidFill>
              </a:rPr>
              <a:t>for interactive geospatial mapping of weather stations with health badges.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Recharts </a:t>
            </a:r>
            <a:r>
              <a:rPr b="0" sz="950">
                <a:solidFill>
                  <a:srgbClr val="1E293B"/>
                </a:solidFill>
              </a:rPr>
              <a:t>for real-time diurnal trend curves (temperature, pressure, humidity).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FastAPI &amp; Python 3.12 </a:t>
            </a:r>
            <a:r>
              <a:rPr b="0" sz="950">
                <a:solidFill>
                  <a:srgbClr val="1E293B"/>
                </a:solidFill>
              </a:rPr>
              <a:t>as a high-performance, asynchronous REST backend framework.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PostgreSQL </a:t>
            </a:r>
            <a:r>
              <a:rPr b="0" sz="950">
                <a:solidFill>
                  <a:srgbClr val="1E293B"/>
                </a:solidFill>
              </a:rPr>
              <a:t>for central observation management, and SQLite for edge/offline replay.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LightGBM &amp; Scikit-learn </a:t>
            </a:r>
            <a:r>
              <a:rPr b="0" sz="950">
                <a:solidFill>
                  <a:srgbClr val="1E293B"/>
                </a:solidFill>
              </a:rPr>
              <a:t>ML models for multivariate anomaly scoring.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CUSUM Algorithm </a:t>
            </a:r>
            <a:r>
              <a:rPr b="0" sz="950">
                <a:solidFill>
                  <a:srgbClr val="1E293B"/>
                </a:solidFill>
              </a:rPr>
              <a:t>for continuous tracking of slow sensor calibration drift.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Range &amp; Step QC </a:t>
            </a:r>
            <a:r>
              <a:rPr b="0" sz="950">
                <a:solidFill>
                  <a:srgbClr val="1E293B"/>
                </a:solidFill>
              </a:rPr>
              <a:t>WMO-standard physical limit checks and rate-of-change jump detection.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Spatial Consensus Engine </a:t>
            </a:r>
            <a:r>
              <a:rPr b="0" sz="950">
                <a:solidFill>
                  <a:srgbClr val="1E293B"/>
                </a:solidFill>
              </a:rPr>
              <a:t>Cross-station validation with elevation &amp; distance weighting.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Decision Triage </a:t>
            </a:r>
            <a:r>
              <a:rPr b="0" sz="950">
                <a:solidFill>
                  <a:srgbClr val="1E293B"/>
                </a:solidFill>
              </a:rPr>
              <a:t>Classifies events into Real Weather, Suspected Fault, or Needs Review.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Data Imputation </a:t>
            </a:r>
            <a:r>
              <a:rPr b="0" sz="950">
                <a:solidFill>
                  <a:srgbClr val="1E293B"/>
                </a:solidFill>
              </a:rPr>
              <a:t>Physics-informed interpolation for continuous downstream data feeds.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Raw Data Integrity </a:t>
            </a:r>
            <a:r>
              <a:rPr b="0" sz="950">
                <a:solidFill>
                  <a:srgbClr val="1E293B"/>
                </a:solidFill>
              </a:rPr>
              <a:t>Preserves original observations with non-destructive quality flags.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b="1" sz="950">
                <a:solidFill>
                  <a:srgbClr val="DC2626"/>
                </a:solidFill>
              </a:rPr>
              <a:t>❖ </a:t>
            </a:r>
            <a:r>
              <a:rPr b="1" sz="950">
                <a:solidFill>
                  <a:srgbClr val="DC2626"/>
                </a:solidFill>
              </a:rPr>
              <a:t>Weather Data Ingestion </a:t>
            </a:r>
            <a:r>
              <a:rPr b="0" sz="950">
                <a:solidFill>
                  <a:srgbClr val="1E293B"/>
                </a:solidFill>
              </a:rPr>
              <a:t>Ingests multi-sensor telemetry (IMD AWS standard feeds) reliably.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051560"/>
            <a:ext cx="2103120" cy="47548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AWS Telemetry Ingest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Temp • Pressure • Humidity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783080"/>
            <a:ext cx="1645920" cy="4754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SQLite Local Cache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Edge Replay &amp; 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468880"/>
            <a:ext cx="2011680" cy="594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FastAPI Backend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Python 3.12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3474720"/>
            <a:ext cx="1645920" cy="475488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Web Application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Next.js 14 / React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480560"/>
            <a:ext cx="1463040" cy="47548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MapLibre GL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Station Geo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480560"/>
            <a:ext cx="1463040" cy="475488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Recharts Visuals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Diurnal Multi-Trace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051560"/>
            <a:ext cx="2834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Physical Limits &amp; Step QC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WMO Bounds &amp; Step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00200"/>
            <a:ext cx="2834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CUSUM Drift Detector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Calibration Drift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148840"/>
            <a:ext cx="2834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LightGBM ML Scorer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Multivariate Anomaly GBDT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697480"/>
            <a:ext cx="2834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Spatial Consensus Engine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Peer Correlation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246120"/>
            <a:ext cx="2834640" cy="438912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Decision &amp; Triage Logic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Weather vs Fault vs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794760"/>
            <a:ext cx="2834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Data Imputation Engine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Physics-Informed Feed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343400"/>
            <a:ext cx="2834640" cy="438912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Operator Alert Service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Root-Cause Explanations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4892040"/>
            <a:ext cx="2834640" cy="43891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PostgreSQL Central Store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Historical Telemetry Archive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5440680"/>
            <a:ext cx="2834640" cy="43891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Raw Telemetry Archive</a:t>
            </a:r>
          </a:p>
          <a:p>
            <a:pPr algn="ctr">
              <a:defRPr sz="800" b="0">
                <a:solidFill>
                  <a:srgbClr val="64748B"/>
                </a:solidFill>
              </a:defRPr>
            </a:pPr>
            <a:r>
              <a:t>Immutable Observation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